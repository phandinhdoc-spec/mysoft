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Báo cáo tóm tắt quá trình nâng cấp trải nghiệm người dùng đối với tính năng xem trước các tài liệu Office trong PVTA.</a:t>
            </a:r>
          </a:p>
          <a:p/>
          <a:p>
            <a:r>
              <a:t>Mục tiêu nâng cấp: Bổ sung chế độ cuộn trang bằng chuột và touchpad cho Word, Excel, PowerPoint tương tự như PDF.</a:t>
            </a:r>
          </a:p>
          <a:p>
            <a:r>
              <a:t>Phạm vi thực hiện: Cải tiến toàn diện bộ điều khiển OfficePages, giao diện bố cục và cơ chế dựng nhẹ.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quyết dứt điểm hạn chế chỉ xem từng trang đơn lẻ, mang lại thao tác tự nhiên tương đương với trình đọc PDF chuyên nghiệp.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Đảm bảo hình ảnh hiển thị sắc nét trên màn hình độ phân giải cao và cơ chế dự phòng LibreOffice khi cần.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Hệ thống mã nguồn đảm bảo tính toàn vẹn và không phát sinh lỗi hồi quy trước khi đóng gói ứng dụng.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Sau khi hoàn tất kiểm thử tự động, bước kiểm tra người dùng trên môi trường thực tế sẽ hoàn thiện chu trình phát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20840" y="502920"/>
            <a:ext cx="4892040" cy="585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50442"/>
            <a:ext cx="452628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"/>
            <a:ext cx="5577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1">
                <a:solidFill>
                  <a:srgbClr val="477A83"/>
                </a:solidFill>
                <a:latin typeface="Arial"/>
              </a:defRPr>
            </a:pPr>
            <a:r>
              <a:t>BÁO CÁO KỸ THUẬT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532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20364B"/>
                </a:solidFill>
                <a:latin typeface="Arial"/>
              </a:defRPr>
            </a:pPr>
            <a:r>
              <a:t>CẬP NHẬT TÍNH NĂNG PREVIEW BỘ OFFICE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07792"/>
            <a:ext cx="5440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07792"/>
            <a:ext cx="54864" cy="822960"/>
          </a:xfrm>
          <a:prstGeom prst="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990088"/>
            <a:ext cx="507492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0F172A"/>
                </a:solidFill>
                <a:latin typeface="Arial"/>
              </a:defRPr>
            </a:pPr>
            <a:r>
              <a:t>Mục tiêu nâng cấp: Bổ sung chế độ cuộn trang bằng chuột và touchpad cho Word, Excel, PowerPoint tương tự như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58768"/>
            <a:ext cx="5440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58768"/>
            <a:ext cx="54864" cy="822960"/>
          </a:xfrm>
          <a:prstGeom prst="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41064"/>
            <a:ext cx="507492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0F172A"/>
                </a:solidFill>
                <a:latin typeface="Arial"/>
              </a:defRPr>
            </a:pPr>
            <a:r>
              <a:t>Phạm vi thực hiện: Cải tiến toàn diện bộ điều khiển OfficePages, giao diện bố cục và cơ chế dựng nhẹ.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5486400"/>
            <a:ext cx="43434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Minh họa học tập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3679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Arial"/>
              </a:defRPr>
            </a:pPr>
            <a: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3291840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7A83"/>
                </a:solidFill>
                <a:latin typeface="Arial"/>
              </a:defRPr>
            </a:pPr>
            <a:r>
              <a:t>TÍNH NĂNG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92608"/>
            <a:ext cx="868680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5569"/>
                </a:solidFill>
                <a:latin typeface="Arial"/>
              </a:defRPr>
            </a:pPr>
            <a:r>
              <a:t>02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364B"/>
                </a:solidFill>
                <a:latin typeface="Arial"/>
              </a:defRPr>
            </a:pPr>
            <a:r>
              <a:t>Nâng cấp cuộn trang trong OfficePages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100023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91056"/>
            <a:ext cx="535838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91056"/>
            <a:ext cx="128016" cy="2176272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792224"/>
            <a:ext cx="438912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477A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755648"/>
            <a:ext cx="4425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77A83"/>
                </a:solidFill>
                <a:latin typeface="Arial"/>
              </a:defRPr>
            </a:pPr>
            <a:r>
              <a:t>Cuộn trang liên tục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67712"/>
            <a:ext cx="49194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>
                <a:solidFill>
                  <a:srgbClr val="0F172A"/>
                </a:solidFill>
                <a:latin typeface="Arial"/>
              </a:defRPr>
            </a:pPr>
            <a:r>
              <a:t>Kết xuất danh sách toàn bộ trang trong khung cuộn dọc mượt mà bằng chuột và trackpad.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591056"/>
            <a:ext cx="535838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591056"/>
            <a:ext cx="128016" cy="2176272"/>
          </a:xfrm>
          <a:prstGeom prst="round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792224"/>
            <a:ext cx="438912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0364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1755648"/>
            <a:ext cx="4425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364B"/>
                </a:solidFill>
                <a:latin typeface="Arial"/>
              </a:defRPr>
            </a:pPr>
            <a:r>
              <a:t>Tối ưu lazy-rendering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67712"/>
            <a:ext cx="49194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>
                <a:solidFill>
                  <a:srgbClr val="0F172A"/>
                </a:solidFill>
                <a:latin typeface="Arial"/>
              </a:defRPr>
            </a:pPr>
            <a:r>
              <a:t>Sử dụng IntersectionObserver tải trước các trang gần vùng nhìn thấy và giải phóng bộ nhớ khi cuộn xa.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005072"/>
            <a:ext cx="535838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005072"/>
            <a:ext cx="128016" cy="2176272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" y="4206240"/>
            <a:ext cx="438912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477A8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169663"/>
            <a:ext cx="4425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77A83"/>
                </a:solidFill>
                <a:latin typeface="Arial"/>
              </a:defRPr>
            </a:pPr>
            <a:r>
              <a:t>Định vị thông minh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681728"/>
            <a:ext cx="49194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>
                <a:solidFill>
                  <a:srgbClr val="0F172A"/>
                </a:solidFill>
                <a:latin typeface="Arial"/>
              </a:defRPr>
            </a:pPr>
            <a:r>
              <a:t>Tự động phát hiện và đồng bộ số trang hiển thị trên thanh công cụ khi người dùng cuộn.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005072"/>
            <a:ext cx="535838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36208" y="4005072"/>
            <a:ext cx="128016" cy="2176272"/>
          </a:xfrm>
          <a:prstGeom prst="round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206240"/>
            <a:ext cx="438912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0364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169663"/>
            <a:ext cx="4425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364B"/>
                </a:solidFill>
                <a:latin typeface="Arial"/>
              </a:defRPr>
            </a:pPr>
            <a:r>
              <a:t>Điều hướng linh hoạt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81728"/>
            <a:ext cx="49194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>
                <a:solidFill>
                  <a:srgbClr val="0F172A"/>
                </a:solidFill>
                <a:latin typeface="Arial"/>
              </a:defRPr>
            </a:pPr>
            <a:r>
              <a:t>Hỗ trợ phím tắt, nút chuyển trang mượt mà cùng công cụ thu phóng và căn vừa khung.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3291840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7A83"/>
                </a:solidFill>
                <a:latin typeface="Arial"/>
              </a:defRPr>
            </a:pPr>
            <a:r>
              <a:t>KIẾN TRÚC &amp; GIAO DIỆN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92608"/>
            <a:ext cx="868680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5569"/>
                </a:solidFill>
                <a:latin typeface="Arial"/>
              </a:defRPr>
            </a:pPr>
            <a:r>
              <a:t>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364B"/>
                </a:solidFill>
                <a:latin typeface="Arial"/>
              </a:defRPr>
            </a:pPr>
            <a:r>
              <a:t>Hoàn thiện giao diện &amp; bộ dựng nhẹ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100023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93008" cy="128016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892807"/>
            <a:ext cx="530352" cy="402336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77A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77A83"/>
                </a:solidFill>
                <a:latin typeface="Arial"/>
              </a:defRPr>
            </a:pPr>
            <a:r>
              <a:t>Khung trang độc lập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Định dạng hộp chứa cố định kích thước, đổ bóng và phân tách rõ ràng giữa các trang cuộn.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93008" cy="128016"/>
          </a:xfrm>
          <a:prstGeom prst="round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92807"/>
            <a:ext cx="530352" cy="4023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364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364B"/>
                </a:solidFill>
                <a:latin typeface="Arial"/>
              </a:defRPr>
            </a:pPr>
            <a:r>
              <a:t>Độ nét Retina cao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Căn chỉnh canvas tuyệt đối theo kích thước hộp nhằm chống nhòe và tránh nhảy vị trí cuộn.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93008" cy="128016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92807"/>
            <a:ext cx="530352" cy="402336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77A8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77A83"/>
                </a:solidFill>
                <a:latin typeface="Arial"/>
              </a:defRPr>
            </a:pPr>
            <a:r>
              <a:t>Ánh xạ bộ dựng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Bổ sung công cụ gridcraft cho bảng tính Excel bên cạnh wordcraft và deckcraft đã có sẵn.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3291840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7A83"/>
                </a:solidFill>
                <a:latin typeface="Arial"/>
              </a:defRPr>
            </a:pPr>
            <a:r>
              <a:t>KIỂM CHỨNG CHẤT LƯỢNG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92608"/>
            <a:ext cx="868680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5569"/>
                </a:solidFill>
                <a:latin typeface="Arial"/>
              </a:defRPr>
            </a:pPr>
            <a:r>
              <a:t>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364B"/>
                </a:solidFill>
                <a:latin typeface="Arial"/>
              </a:defRPr>
            </a:pPr>
            <a:r>
              <a:t>Kết quả kiểm thử &amp; kiểm chứng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100023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536192"/>
          <a:ext cx="1100023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Hạng mục kiểm tra</a:t>
                      </a:r>
                    </a:p>
                  </a:txBody>
                  <a:tcPr anchor="ctr">
                    <a:solidFill>
                      <a:srgbClr val="2036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Phạm vi thực hiện</a:t>
                      </a:r>
                    </a:p>
                  </a:txBody>
                  <a:tcPr anchor="ctr">
                    <a:solidFill>
                      <a:srgbClr val="2036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Kết quả ghi nhận</a:t>
                      </a:r>
                    </a:p>
                  </a:txBody>
                  <a:tcPr anchor="ctr">
                    <a:solidFill>
                      <a:srgbClr val="2036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Kiểm tra kiểu Typecheck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5 workspace: shared, core, bridge, addin, chatbox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Đạt 0 lỗi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Kiểm thử cuộn trang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chatbox/test/office-pages-scroll.test.ts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2/2 tests đạt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Kiểm thử bộ dựng Office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core/test/office-render.test.ts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5/5 tests đạt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Kiểm thử menu PDF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chatbox/test/pdf-page-menu.test.ts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5/5 tests đạt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364B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364B"/>
                          </a:solidFill>
                          <a:latin typeface="Arial"/>
                        </a:rPr>
                        <a:t>Toàn bộ bài kiểm thử tự động liên quan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0364B"/>
                          </a:solidFill>
                          <a:latin typeface="Arial"/>
                        </a:rPr>
                        <a:t>12/12 tests hoàn thành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4279392"/>
            <a:ext cx="11000232" cy="68580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>
                <a:solidFill>
                  <a:srgbClr val="20364B"/>
                </a:solidFill>
                <a:latin typeface="Arial"/>
              </a:defRPr>
            </a:pPr>
            <a:r>
              <a:t>💡 Độ tin cậy: Toàn bộ kiểm thử tự động của luồng xử lý và giao diện đều vượt qua thành công.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3291840" cy="347472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7A83"/>
                </a:solidFill>
                <a:latin typeface="Arial"/>
              </a:defRPr>
            </a:pPr>
            <a:r>
              <a:t>BƯỚC TIẾP THEO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44200" y="292608"/>
            <a:ext cx="868680" cy="34747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75569"/>
                </a:solidFill>
                <a:latin typeface="Arial"/>
              </a:defRPr>
            </a:pPr>
            <a:r>
              <a:t>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76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364B"/>
                </a:solidFill>
                <a:latin typeface="Arial"/>
              </a:defRPr>
            </a:pPr>
            <a:r>
              <a:t>Kế hoạch cập nhật &amp; triển khai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100023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93008" cy="128016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892807"/>
            <a:ext cx="530352" cy="402336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77A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77A83"/>
                </a:solidFill>
                <a:latin typeface="Arial"/>
              </a:defRPr>
            </a:pPr>
            <a:r>
              <a:t>Biên dịch ứng dụng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Chạy lệnh Cai-PVTA.command trên terminal macOS để cập nhật bản cài đặt mới nhất.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93008" cy="128016"/>
          </a:xfrm>
          <a:prstGeom prst="roundRect">
            <a:avLst/>
          </a:prstGeom>
          <a:solidFill>
            <a:srgbClr val="20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892807"/>
            <a:ext cx="530352" cy="4023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364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0364B"/>
                </a:solidFill>
                <a:latin typeface="Arial"/>
              </a:defRPr>
            </a:pPr>
            <a:r>
              <a:t>Kiểm tra thực tế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Thử nghiệm cuộn chuột và touchpad trực quan trên các tệp Office phức tạp trong ứng dụng.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4930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93008" cy="128016"/>
          </a:xfrm>
          <a:prstGeom prst="roundRect">
            <a:avLst/>
          </a:prstGeom>
          <a:solidFill>
            <a:srgbClr val="477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892807"/>
            <a:ext cx="530352" cy="402336"/>
          </a:xfrm>
          <a:prstGeom prst="roundRect">
            <a:avLst/>
          </a:prstGeom>
          <a:solidFill>
            <a:srgbClr val="ED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77A8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41448"/>
            <a:ext cx="303580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77A83"/>
                </a:solidFill>
                <a:latin typeface="Arial"/>
              </a:defRPr>
            </a:pPr>
            <a:r>
              <a:t>Thu thập phản hồi</a:t>
            </a:r>
          </a:p>
          <a:p>
            <a:pPr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Ghi nhận cảm giác cuộn và độ mượt mà từ người dùng để tiếp tục hoàn thiện.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